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7" r:id="rId10"/>
    <p:sldId id="264"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dirty="0"/>
              <a:pPr/>
              <a:t>4/13/22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dirty="0"/>
              <a:pPr/>
              <a:t>4/13/22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dirty="0"/>
              <a:pPr/>
              <a:t>4/13/22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4/13/22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4/13/22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a:t>Click icon to add picture</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4/13/22</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dirty="0"/>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a:t>Click icon to add picture</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4/13/22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4/13/22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 xmlns:a14="http://schemas.microsoft.com/office/drawing/2010/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dirty="0"/>
              <a:pPr/>
              <a:t>4/13/22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alpha val="18084"/>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dirty="0"/>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4/13/22</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ourworldindata.org/grapher/burden-of-disease-by-cause?tab=table" TargetMode="External"/><Relationship Id="rId7" Type="http://schemas.openxmlformats.org/officeDocument/2006/relationships/hyperlink" Target="https://ourworldindata.org/grapher/burden-of-disease-rates-from-injuries?tab=table" TargetMode="External"/><Relationship Id="rId2" Type="http://schemas.openxmlformats.org/officeDocument/2006/relationships/hyperlink" Target="https://ourworldindata.org/grapher/dalys-rate-from-all-causes?tab=table" TargetMode="External"/><Relationship Id="rId1" Type="http://schemas.openxmlformats.org/officeDocument/2006/relationships/slideLayout" Target="../slideLayouts/slideLayout2.xml"/><Relationship Id="rId6" Type="http://schemas.openxmlformats.org/officeDocument/2006/relationships/hyperlink" Target="https://ourworldindata.org/grapher/burden-of-disease-rates-from-ncds?tab=table" TargetMode="External"/><Relationship Id="rId5" Type="http://schemas.openxmlformats.org/officeDocument/2006/relationships/hyperlink" Target="https://ourworldindata.org/grapher/burden-of-disease-rates-from-communicable-neonatal-maternal-nutritional-diseases?tab=table" TargetMode="External"/><Relationship Id="rId4" Type="http://schemas.openxmlformats.org/officeDocument/2006/relationships/hyperlink" Target="https://ourworldindata.org/grapher/daly-rates-from-all-causes-by-age?tab=table&amp;country=~OWID_WRL"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ourworldindata.org/burden-of-diseas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9EB90-0DBD-DBB9-A29B-298F07462CC8}"/>
              </a:ext>
            </a:extLst>
          </p:cNvPr>
          <p:cNvSpPr>
            <a:spLocks noGrp="1"/>
          </p:cNvSpPr>
          <p:nvPr>
            <p:ph type="ctrTitle"/>
          </p:nvPr>
        </p:nvSpPr>
        <p:spPr/>
        <p:txBody>
          <a:bodyPr/>
          <a:lstStyle/>
          <a:p>
            <a:pPr algn="ctr"/>
            <a:r>
              <a:rPr lang="en-US" dirty="0">
                <a:solidFill>
                  <a:schemeClr val="bg1"/>
                </a:solidFill>
              </a:rPr>
              <a:t>Burden of Disease Study </a:t>
            </a:r>
            <a:br>
              <a:rPr lang="en-US" dirty="0">
                <a:solidFill>
                  <a:schemeClr val="bg1"/>
                </a:solidFill>
              </a:rPr>
            </a:br>
            <a:r>
              <a:rPr lang="en-US" dirty="0">
                <a:solidFill>
                  <a:schemeClr val="bg1"/>
                </a:solidFill>
              </a:rPr>
              <a:t>(1990 – 2019) </a:t>
            </a:r>
            <a:br>
              <a:rPr lang="en-US" dirty="0"/>
            </a:br>
            <a:endParaRPr lang="en-US" dirty="0"/>
          </a:p>
        </p:txBody>
      </p:sp>
      <p:sp>
        <p:nvSpPr>
          <p:cNvPr id="3" name="Subtitle 2">
            <a:extLst>
              <a:ext uri="{FF2B5EF4-FFF2-40B4-BE49-F238E27FC236}">
                <a16:creationId xmlns:a16="http://schemas.microsoft.com/office/drawing/2014/main" id="{A7DA91F1-64A7-7EC2-AE36-48762415AD2D}"/>
              </a:ext>
            </a:extLst>
          </p:cNvPr>
          <p:cNvSpPr>
            <a:spLocks noGrp="1"/>
          </p:cNvSpPr>
          <p:nvPr>
            <p:ph type="subTitle" idx="1"/>
          </p:nvPr>
        </p:nvSpPr>
        <p:spPr>
          <a:xfrm>
            <a:off x="810001" y="5280847"/>
            <a:ext cx="10572000" cy="1060318"/>
          </a:xfrm>
        </p:spPr>
        <p:txBody>
          <a:bodyPr>
            <a:normAutofit/>
          </a:bodyPr>
          <a:lstStyle/>
          <a:p>
            <a:pPr algn="ctr"/>
            <a:r>
              <a:rPr lang="en-US" b="1" dirty="0">
                <a:solidFill>
                  <a:schemeClr val="bg1"/>
                </a:solidFill>
              </a:rPr>
              <a:t>By: John </a:t>
            </a:r>
            <a:r>
              <a:rPr lang="en-US" b="1" dirty="0" err="1">
                <a:solidFill>
                  <a:schemeClr val="bg1"/>
                </a:solidFill>
              </a:rPr>
              <a:t>Markin</a:t>
            </a:r>
            <a:r>
              <a:rPr lang="en-US" b="1" dirty="0">
                <a:solidFill>
                  <a:schemeClr val="bg1"/>
                </a:solidFill>
              </a:rPr>
              <a:t>       Date: 13th April 2022         FA 550 - Spring 2022 </a:t>
            </a:r>
          </a:p>
          <a:p>
            <a:r>
              <a:rPr lang="en-US" dirty="0"/>
              <a:t> </a:t>
            </a:r>
          </a:p>
          <a:p>
            <a:endParaRPr lang="en-US" dirty="0"/>
          </a:p>
        </p:txBody>
      </p:sp>
    </p:spTree>
    <p:extLst>
      <p:ext uri="{BB962C8B-B14F-4D97-AF65-F5344CB8AC3E}">
        <p14:creationId xmlns:p14="http://schemas.microsoft.com/office/powerpoint/2010/main" val="21884615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5D2FA-05B2-0FDF-C316-3B69715E99A2}"/>
              </a:ext>
            </a:extLst>
          </p:cNvPr>
          <p:cNvSpPr>
            <a:spLocks noGrp="1"/>
          </p:cNvSpPr>
          <p:nvPr>
            <p:ph type="title"/>
          </p:nvPr>
        </p:nvSpPr>
        <p:spPr/>
        <p:txBody>
          <a:bodyPr/>
          <a:lstStyle/>
          <a:p>
            <a:r>
              <a:rPr lang="en-US" dirty="0">
                <a:solidFill>
                  <a:schemeClr val="bg1"/>
                </a:solidFill>
              </a:rPr>
              <a:t>Introduction: </a:t>
            </a:r>
          </a:p>
        </p:txBody>
      </p:sp>
      <p:sp>
        <p:nvSpPr>
          <p:cNvPr id="3" name="Content Placeholder 2">
            <a:extLst>
              <a:ext uri="{FF2B5EF4-FFF2-40B4-BE49-F238E27FC236}">
                <a16:creationId xmlns:a16="http://schemas.microsoft.com/office/drawing/2014/main" id="{5AE26889-D6D0-EB31-3329-A50E489716CE}"/>
              </a:ext>
            </a:extLst>
          </p:cNvPr>
          <p:cNvSpPr>
            <a:spLocks noGrp="1"/>
          </p:cNvSpPr>
          <p:nvPr>
            <p:ph idx="1"/>
          </p:nvPr>
        </p:nvSpPr>
        <p:spPr/>
        <p:txBody>
          <a:bodyPr/>
          <a:lstStyle/>
          <a:p>
            <a:r>
              <a:rPr lang="en-US" dirty="0">
                <a:solidFill>
                  <a:schemeClr val="bg1"/>
                </a:solidFill>
              </a:rPr>
              <a:t>Mortality does not give a complete picture of the burden of disease borne by individuals in different populations. The overall burden of disease is assessed using the disability-adjusted life year (DALY), a time-based measure that combines years of life lost due to premature mortality (YLLs) and years of life lost due to time lived in states of less than full health, or years of healthy life lost due to disability (YLDs). This study breaks DALY into its various components to study its trend across time and country. </a:t>
            </a:r>
          </a:p>
          <a:p>
            <a:endParaRPr lang="en-US" dirty="0"/>
          </a:p>
        </p:txBody>
      </p:sp>
    </p:spTree>
    <p:extLst>
      <p:ext uri="{BB962C8B-B14F-4D97-AF65-F5344CB8AC3E}">
        <p14:creationId xmlns:p14="http://schemas.microsoft.com/office/powerpoint/2010/main" val="2400462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EAE6-8398-B905-6277-A20F8E4DF6ED}"/>
              </a:ext>
            </a:extLst>
          </p:cNvPr>
          <p:cNvSpPr>
            <a:spLocks noGrp="1"/>
          </p:cNvSpPr>
          <p:nvPr>
            <p:ph type="title"/>
          </p:nvPr>
        </p:nvSpPr>
        <p:spPr/>
        <p:txBody>
          <a:bodyPr/>
          <a:lstStyle/>
          <a:p>
            <a:r>
              <a:rPr lang="en-US" dirty="0">
                <a:solidFill>
                  <a:schemeClr val="bg1"/>
                </a:solidFill>
              </a:rPr>
              <a:t>Research Questions: </a:t>
            </a:r>
          </a:p>
        </p:txBody>
      </p:sp>
      <p:sp>
        <p:nvSpPr>
          <p:cNvPr id="3" name="Content Placeholder 2">
            <a:extLst>
              <a:ext uri="{FF2B5EF4-FFF2-40B4-BE49-F238E27FC236}">
                <a16:creationId xmlns:a16="http://schemas.microsoft.com/office/drawing/2014/main" id="{63A402BA-C8AD-0D11-2230-3EE50B63957E}"/>
              </a:ext>
            </a:extLst>
          </p:cNvPr>
          <p:cNvSpPr>
            <a:spLocks noGrp="1"/>
          </p:cNvSpPr>
          <p:nvPr>
            <p:ph idx="1"/>
          </p:nvPr>
        </p:nvSpPr>
        <p:spPr/>
        <p:txBody>
          <a:bodyPr/>
          <a:lstStyle/>
          <a:p>
            <a:pPr lvl="0" fontAlgn="base"/>
            <a:r>
              <a:rPr lang="en-US" dirty="0">
                <a:solidFill>
                  <a:schemeClr val="bg1"/>
                </a:solidFill>
              </a:rPr>
              <a:t>Has the burden of disease per country increased or decreased with time?</a:t>
            </a:r>
          </a:p>
          <a:p>
            <a:pPr lvl="0" fontAlgn="base"/>
            <a:r>
              <a:rPr lang="en-US" dirty="0">
                <a:solidFill>
                  <a:schemeClr val="bg1"/>
                </a:solidFill>
              </a:rPr>
              <a:t>What disease are the major contributing factors of Burden of Disease from 1990 -2019?</a:t>
            </a:r>
          </a:p>
          <a:p>
            <a:pPr lvl="0" fontAlgn="base"/>
            <a:r>
              <a:rPr lang="en-US" dirty="0">
                <a:solidFill>
                  <a:schemeClr val="bg1"/>
                </a:solidFill>
              </a:rPr>
              <a:t>Breakdown the top 5 burden of disease by age, non - communicable diseases, communicable, neonatal, maternal and nutritional diseases. Are there any noticeable trends?</a:t>
            </a:r>
          </a:p>
          <a:p>
            <a:r>
              <a:rPr lang="en-US" dirty="0">
                <a:solidFill>
                  <a:schemeClr val="bg1"/>
                </a:solidFill>
              </a:rPr>
              <a:t> Report the burden from injuries, violence, self-harm and accidents across </a:t>
            </a:r>
          </a:p>
        </p:txBody>
      </p:sp>
    </p:spTree>
    <p:extLst>
      <p:ext uri="{BB962C8B-B14F-4D97-AF65-F5344CB8AC3E}">
        <p14:creationId xmlns:p14="http://schemas.microsoft.com/office/powerpoint/2010/main" val="2139248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125E8-56B0-B7D8-550F-F3DB7060DFE0}"/>
              </a:ext>
            </a:extLst>
          </p:cNvPr>
          <p:cNvSpPr>
            <a:spLocks noGrp="1"/>
          </p:cNvSpPr>
          <p:nvPr>
            <p:ph type="title"/>
          </p:nvPr>
        </p:nvSpPr>
        <p:spPr/>
        <p:txBody>
          <a:bodyPr/>
          <a:lstStyle/>
          <a:p>
            <a:r>
              <a:rPr lang="en-US" u="sng" dirty="0">
                <a:solidFill>
                  <a:schemeClr val="bg1"/>
                </a:solidFill>
              </a:rPr>
              <a:t>Visualization Tools</a:t>
            </a:r>
            <a:r>
              <a:rPr lang="en-US" u="sng" dirty="0"/>
              <a:t>: </a:t>
            </a:r>
            <a:endParaRPr lang="en-US" dirty="0"/>
          </a:p>
        </p:txBody>
      </p:sp>
      <p:sp>
        <p:nvSpPr>
          <p:cNvPr id="3" name="Content Placeholder 2">
            <a:extLst>
              <a:ext uri="{FF2B5EF4-FFF2-40B4-BE49-F238E27FC236}">
                <a16:creationId xmlns:a16="http://schemas.microsoft.com/office/drawing/2014/main" id="{79D68B8E-7F8D-D9FE-5468-815712E3F7BA}"/>
              </a:ext>
            </a:extLst>
          </p:cNvPr>
          <p:cNvSpPr>
            <a:spLocks noGrp="1"/>
          </p:cNvSpPr>
          <p:nvPr>
            <p:ph idx="1"/>
          </p:nvPr>
        </p:nvSpPr>
        <p:spPr/>
        <p:txBody>
          <a:bodyPr/>
          <a:lstStyle/>
          <a:p>
            <a:pPr lvl="0" fontAlgn="base"/>
            <a:r>
              <a:rPr lang="en-US" dirty="0">
                <a:solidFill>
                  <a:schemeClr val="bg1"/>
                </a:solidFill>
              </a:rPr>
              <a:t>Tableau – Tableau provides a host of map graphs and ease in creating dashboards.   Also due to its graphical interface it makes it easy to implement graph designs without the use of extensive coding.</a:t>
            </a:r>
          </a:p>
          <a:p>
            <a:pPr marL="0" indent="0" fontAlgn="base">
              <a:buNone/>
            </a:pPr>
            <a:endParaRPr lang="en-US" dirty="0">
              <a:solidFill>
                <a:schemeClr val="bg1"/>
              </a:solidFill>
            </a:endParaRPr>
          </a:p>
          <a:p>
            <a:pPr lvl="0" fontAlgn="base"/>
            <a:r>
              <a:rPr lang="en-US" dirty="0">
                <a:solidFill>
                  <a:schemeClr val="bg1"/>
                </a:solidFill>
              </a:rPr>
              <a:t>R Software – This project will use the gganimate of the ggplot2 package to visualize the time series analysis of the data. R provides a platform to easily shape data in the required format. The html formatting in R can easily merge visualizations from Tableau to create a scrolling story board.</a:t>
            </a:r>
          </a:p>
          <a:p>
            <a:endParaRPr lang="en-US" dirty="0"/>
          </a:p>
        </p:txBody>
      </p:sp>
    </p:spTree>
    <p:extLst>
      <p:ext uri="{BB962C8B-B14F-4D97-AF65-F5344CB8AC3E}">
        <p14:creationId xmlns:p14="http://schemas.microsoft.com/office/powerpoint/2010/main" val="360677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66FBD-DB09-7C61-AD92-7FB9A0717BFA}"/>
              </a:ext>
            </a:extLst>
          </p:cNvPr>
          <p:cNvSpPr>
            <a:spLocks noGrp="1"/>
          </p:cNvSpPr>
          <p:nvPr>
            <p:ph type="title"/>
          </p:nvPr>
        </p:nvSpPr>
        <p:spPr/>
        <p:txBody>
          <a:bodyPr/>
          <a:lstStyle/>
          <a:p>
            <a:r>
              <a:rPr lang="en-US" dirty="0">
                <a:solidFill>
                  <a:schemeClr val="bg1"/>
                </a:solidFill>
              </a:rPr>
              <a:t>Examples of Visualization Choices</a:t>
            </a:r>
            <a:br>
              <a:rPr lang="en-US" dirty="0">
                <a:solidFill>
                  <a:schemeClr val="bg1"/>
                </a:solidFill>
              </a:rPr>
            </a:br>
            <a:r>
              <a:rPr lang="en-US" sz="2000" dirty="0">
                <a:solidFill>
                  <a:schemeClr val="bg1"/>
                </a:solidFill>
              </a:rPr>
              <a:t>Bar Chart:                                                                              Animated Point -Line Graph:</a:t>
            </a:r>
          </a:p>
        </p:txBody>
      </p:sp>
      <p:pic>
        <p:nvPicPr>
          <p:cNvPr id="5" name="Content Placeholder 4">
            <a:extLst>
              <a:ext uri="{FF2B5EF4-FFF2-40B4-BE49-F238E27FC236}">
                <a16:creationId xmlns:a16="http://schemas.microsoft.com/office/drawing/2014/main" id="{820B5958-C74A-60F0-E4D7-D80EBB50123C}"/>
              </a:ext>
            </a:extLst>
          </p:cNvPr>
          <p:cNvPicPr>
            <a:picLocks noGrp="1" noChangeAspect="1"/>
          </p:cNvPicPr>
          <p:nvPr>
            <p:ph idx="1"/>
          </p:nvPr>
        </p:nvPicPr>
        <p:blipFill>
          <a:blip r:embed="rId2"/>
          <a:stretch>
            <a:fillRect/>
          </a:stretch>
        </p:blipFill>
        <p:spPr>
          <a:xfrm>
            <a:off x="810000" y="2063578"/>
            <a:ext cx="5177481" cy="4347234"/>
          </a:xfrm>
        </p:spPr>
      </p:pic>
      <p:pic>
        <p:nvPicPr>
          <p:cNvPr id="7" name="Picture 6">
            <a:extLst>
              <a:ext uri="{FF2B5EF4-FFF2-40B4-BE49-F238E27FC236}">
                <a16:creationId xmlns:a16="http://schemas.microsoft.com/office/drawing/2014/main" id="{5620286F-8804-DDEC-4E84-5AD113428BCE}"/>
              </a:ext>
            </a:extLst>
          </p:cNvPr>
          <p:cNvPicPr>
            <a:picLocks noChangeAspect="1"/>
          </p:cNvPicPr>
          <p:nvPr/>
        </p:nvPicPr>
        <p:blipFill>
          <a:blip r:embed="rId3"/>
          <a:stretch>
            <a:fillRect/>
          </a:stretch>
        </p:blipFill>
        <p:spPr>
          <a:xfrm>
            <a:off x="6204521" y="2063578"/>
            <a:ext cx="5815907" cy="4347234"/>
          </a:xfrm>
          <a:prstGeom prst="rect">
            <a:avLst/>
          </a:prstGeom>
        </p:spPr>
      </p:pic>
    </p:spTree>
    <p:extLst>
      <p:ext uri="{BB962C8B-B14F-4D97-AF65-F5344CB8AC3E}">
        <p14:creationId xmlns:p14="http://schemas.microsoft.com/office/powerpoint/2010/main" val="37757408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7A384-3E9E-6A5E-B279-C8642E188B38}"/>
              </a:ext>
            </a:extLst>
          </p:cNvPr>
          <p:cNvSpPr>
            <a:spLocks noGrp="1"/>
          </p:cNvSpPr>
          <p:nvPr>
            <p:ph type="title"/>
          </p:nvPr>
        </p:nvSpPr>
        <p:spPr/>
        <p:txBody>
          <a:bodyPr/>
          <a:lstStyle/>
          <a:p>
            <a:r>
              <a:rPr lang="en-US" dirty="0">
                <a:solidFill>
                  <a:schemeClr val="bg1"/>
                </a:solidFill>
              </a:rPr>
              <a:t>Examples of Visualization Choices</a:t>
            </a:r>
            <a:br>
              <a:rPr lang="en-US" dirty="0">
                <a:solidFill>
                  <a:schemeClr val="bg1"/>
                </a:solidFill>
              </a:rPr>
            </a:br>
            <a:r>
              <a:rPr lang="en-US" sz="2000" dirty="0">
                <a:solidFill>
                  <a:schemeClr val="bg1"/>
                </a:solidFill>
              </a:rPr>
              <a:t>Geographical Heat Maps:                                                          Stacked Line Graph:</a:t>
            </a:r>
            <a:endParaRPr lang="en-US" sz="2000" dirty="0"/>
          </a:p>
        </p:txBody>
      </p:sp>
      <p:pic>
        <p:nvPicPr>
          <p:cNvPr id="5" name="Content Placeholder 4">
            <a:extLst>
              <a:ext uri="{FF2B5EF4-FFF2-40B4-BE49-F238E27FC236}">
                <a16:creationId xmlns:a16="http://schemas.microsoft.com/office/drawing/2014/main" id="{8E4A6804-716A-A901-2A4F-7F99B957D5E2}"/>
              </a:ext>
            </a:extLst>
          </p:cNvPr>
          <p:cNvPicPr>
            <a:picLocks noGrp="1" noChangeAspect="1"/>
          </p:cNvPicPr>
          <p:nvPr>
            <p:ph idx="1"/>
          </p:nvPr>
        </p:nvPicPr>
        <p:blipFill>
          <a:blip r:embed="rId2"/>
          <a:stretch>
            <a:fillRect/>
          </a:stretch>
        </p:blipFill>
        <p:spPr>
          <a:xfrm>
            <a:off x="810000" y="2185430"/>
            <a:ext cx="4521921" cy="3636963"/>
          </a:xfrm>
        </p:spPr>
      </p:pic>
      <p:pic>
        <p:nvPicPr>
          <p:cNvPr id="7" name="Picture 6">
            <a:extLst>
              <a:ext uri="{FF2B5EF4-FFF2-40B4-BE49-F238E27FC236}">
                <a16:creationId xmlns:a16="http://schemas.microsoft.com/office/drawing/2014/main" id="{CCBFD5A3-7655-9AA6-41D9-30C4A4A78F2F}"/>
              </a:ext>
            </a:extLst>
          </p:cNvPr>
          <p:cNvPicPr>
            <a:picLocks noChangeAspect="1"/>
          </p:cNvPicPr>
          <p:nvPr/>
        </p:nvPicPr>
        <p:blipFill>
          <a:blip r:embed="rId3"/>
          <a:stretch>
            <a:fillRect/>
          </a:stretch>
        </p:blipFill>
        <p:spPr>
          <a:xfrm>
            <a:off x="5756365" y="2185430"/>
            <a:ext cx="5452028" cy="3636963"/>
          </a:xfrm>
          <a:prstGeom prst="rect">
            <a:avLst/>
          </a:prstGeom>
        </p:spPr>
      </p:pic>
    </p:spTree>
    <p:extLst>
      <p:ext uri="{BB962C8B-B14F-4D97-AF65-F5344CB8AC3E}">
        <p14:creationId xmlns:p14="http://schemas.microsoft.com/office/powerpoint/2010/main" val="390412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6D032-EFE2-2C6D-641F-D23E70AFA972}"/>
              </a:ext>
            </a:extLst>
          </p:cNvPr>
          <p:cNvSpPr>
            <a:spLocks noGrp="1"/>
          </p:cNvSpPr>
          <p:nvPr>
            <p:ph type="title"/>
          </p:nvPr>
        </p:nvSpPr>
        <p:spPr/>
        <p:txBody>
          <a:bodyPr/>
          <a:lstStyle/>
          <a:p>
            <a:r>
              <a:rPr lang="en-US" u="sng" dirty="0">
                <a:solidFill>
                  <a:schemeClr val="bg1"/>
                </a:solidFill>
              </a:rPr>
              <a:t>Project Schedule:</a:t>
            </a:r>
            <a:endParaRPr lang="en-US" dirty="0">
              <a:solidFill>
                <a:schemeClr val="bg1"/>
              </a:solidFill>
            </a:endParaRPr>
          </a:p>
        </p:txBody>
      </p:sp>
      <p:graphicFrame>
        <p:nvGraphicFramePr>
          <p:cNvPr id="4" name="Content Placeholder 3">
            <a:extLst>
              <a:ext uri="{FF2B5EF4-FFF2-40B4-BE49-F238E27FC236}">
                <a16:creationId xmlns:a16="http://schemas.microsoft.com/office/drawing/2014/main" id="{00AA7C0F-392E-2006-FF57-D40AE0F6DA79}"/>
              </a:ext>
            </a:extLst>
          </p:cNvPr>
          <p:cNvGraphicFramePr>
            <a:graphicFrameLocks noGrp="1"/>
          </p:cNvGraphicFramePr>
          <p:nvPr>
            <p:ph idx="1"/>
            <p:extLst>
              <p:ext uri="{D42A27DB-BD31-4B8C-83A1-F6EECF244321}">
                <p14:modId xmlns:p14="http://schemas.microsoft.com/office/powerpoint/2010/main" val="1745047937"/>
              </p:ext>
            </p:extLst>
          </p:nvPr>
        </p:nvGraphicFramePr>
        <p:xfrm>
          <a:off x="926755" y="2273644"/>
          <a:ext cx="9032790" cy="3484605"/>
        </p:xfrm>
        <a:graphic>
          <a:graphicData uri="http://schemas.openxmlformats.org/drawingml/2006/table">
            <a:tbl>
              <a:tblPr firstRow="1" firstCol="1" bandRow="1">
                <a:tableStyleId>{5C22544A-7EE6-4342-B048-85BDC9FD1C3A}</a:tableStyleId>
              </a:tblPr>
              <a:tblGrid>
                <a:gridCol w="4516395">
                  <a:extLst>
                    <a:ext uri="{9D8B030D-6E8A-4147-A177-3AD203B41FA5}">
                      <a16:colId xmlns:a16="http://schemas.microsoft.com/office/drawing/2014/main" val="455965287"/>
                    </a:ext>
                  </a:extLst>
                </a:gridCol>
                <a:gridCol w="4516395">
                  <a:extLst>
                    <a:ext uri="{9D8B030D-6E8A-4147-A177-3AD203B41FA5}">
                      <a16:colId xmlns:a16="http://schemas.microsoft.com/office/drawing/2014/main" val="220842172"/>
                    </a:ext>
                  </a:extLst>
                </a:gridCol>
              </a:tblGrid>
              <a:tr h="288611">
                <a:tc>
                  <a:txBody>
                    <a:bodyPr/>
                    <a:lstStyle/>
                    <a:p>
                      <a:pPr marL="0" marR="0" fontAlgn="base">
                        <a:spcBef>
                          <a:spcPts val="0"/>
                        </a:spcBef>
                        <a:spcAft>
                          <a:spcPts val="0"/>
                        </a:spcAft>
                      </a:pPr>
                      <a:r>
                        <a:rPr lang="en-US" sz="1600" b="1" u="sng">
                          <a:solidFill>
                            <a:schemeClr val="bg1"/>
                          </a:solidFill>
                          <a:effectLst/>
                        </a:rPr>
                        <a:t>Time</a:t>
                      </a:r>
                      <a:endParaRPr lang="en-US" sz="1600" b="1">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fontAlgn="base">
                        <a:spcBef>
                          <a:spcPts val="0"/>
                        </a:spcBef>
                        <a:spcAft>
                          <a:spcPts val="0"/>
                        </a:spcAft>
                      </a:pPr>
                      <a:r>
                        <a:rPr lang="en-US" sz="1600" b="1" u="sng" dirty="0">
                          <a:solidFill>
                            <a:schemeClr val="bg1"/>
                          </a:solidFill>
                          <a:effectLst/>
                        </a:rPr>
                        <a:t>Activity</a:t>
                      </a:r>
                      <a:endParaRPr lang="en-US" sz="1600" b="1" dirty="0">
                        <a:solidFill>
                          <a:schemeClr val="bg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196440082"/>
                  </a:ext>
                </a:extLst>
              </a:tr>
              <a:tr h="710221">
                <a:tc>
                  <a:txBody>
                    <a:bodyPr/>
                    <a:lstStyle/>
                    <a:p>
                      <a:pPr marL="0" marR="0" fontAlgn="base">
                        <a:spcBef>
                          <a:spcPts val="0"/>
                        </a:spcBef>
                        <a:spcAft>
                          <a:spcPts val="0"/>
                        </a:spcAft>
                      </a:pPr>
                      <a:r>
                        <a:rPr lang="en-US" sz="1200">
                          <a:effectLst/>
                        </a:rPr>
                        <a:t>16/04/2022</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fontAlgn="base">
                        <a:spcBef>
                          <a:spcPts val="0"/>
                        </a:spcBef>
                        <a:spcAft>
                          <a:spcPts val="0"/>
                        </a:spcAft>
                      </a:pPr>
                      <a:r>
                        <a:rPr lang="en-US" sz="1200">
                          <a:effectLst/>
                        </a:rPr>
                        <a:t>Gathering, Cleaning and Shaping Data Completed</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4025711"/>
                  </a:ext>
                </a:extLst>
              </a:tr>
              <a:tr h="1065331">
                <a:tc>
                  <a:txBody>
                    <a:bodyPr/>
                    <a:lstStyle/>
                    <a:p>
                      <a:pPr marL="0" marR="0" fontAlgn="base">
                        <a:spcBef>
                          <a:spcPts val="0"/>
                        </a:spcBef>
                        <a:spcAft>
                          <a:spcPts val="0"/>
                        </a:spcAft>
                      </a:pPr>
                      <a:r>
                        <a:rPr lang="en-US" sz="1200" dirty="0">
                          <a:effectLst/>
                        </a:rPr>
                        <a:t>27/04/2022</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fontAlgn="base">
                        <a:spcBef>
                          <a:spcPts val="0"/>
                        </a:spcBef>
                        <a:spcAft>
                          <a:spcPts val="0"/>
                        </a:spcAft>
                      </a:pPr>
                      <a:r>
                        <a:rPr lang="en-US" sz="1200">
                          <a:effectLst/>
                        </a:rPr>
                        <a:t>Creation of All Visualizations and Including various details to the visualizations</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996161759"/>
                  </a:ext>
                </a:extLst>
              </a:tr>
              <a:tr h="710221">
                <a:tc>
                  <a:txBody>
                    <a:bodyPr/>
                    <a:lstStyle/>
                    <a:p>
                      <a:pPr marL="0" marR="0" fontAlgn="base">
                        <a:spcBef>
                          <a:spcPts val="0"/>
                        </a:spcBef>
                        <a:spcAft>
                          <a:spcPts val="0"/>
                        </a:spcAft>
                      </a:pPr>
                      <a:r>
                        <a:rPr lang="en-US" sz="1200" dirty="0">
                          <a:effectLst/>
                        </a:rPr>
                        <a:t>02/05/2022</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fontAlgn="base">
                        <a:spcBef>
                          <a:spcPts val="0"/>
                        </a:spcBef>
                        <a:spcAft>
                          <a:spcPts val="0"/>
                        </a:spcAft>
                        <a:tabLst>
                          <a:tab pos="635000" algn="l"/>
                        </a:tabLst>
                      </a:pPr>
                      <a:r>
                        <a:rPr lang="en-US" sz="1200">
                          <a:effectLst/>
                        </a:rPr>
                        <a:t>Compile all graphs in an initial presentation draft for review</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514090253"/>
                  </a:ext>
                </a:extLst>
              </a:tr>
              <a:tr h="710221">
                <a:tc>
                  <a:txBody>
                    <a:bodyPr/>
                    <a:lstStyle/>
                    <a:p>
                      <a:pPr marL="0" marR="0" fontAlgn="base">
                        <a:spcBef>
                          <a:spcPts val="0"/>
                        </a:spcBef>
                        <a:spcAft>
                          <a:spcPts val="0"/>
                        </a:spcAft>
                      </a:pPr>
                      <a:r>
                        <a:rPr lang="en-US" sz="1200" dirty="0">
                          <a:effectLst/>
                        </a:rPr>
                        <a:t>08/05/2022</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fontAlgn="base">
                        <a:spcBef>
                          <a:spcPts val="0"/>
                        </a:spcBef>
                        <a:spcAft>
                          <a:spcPts val="0"/>
                        </a:spcAft>
                        <a:tabLst>
                          <a:tab pos="635000" algn="l"/>
                        </a:tabLst>
                      </a:pPr>
                      <a:r>
                        <a:rPr lang="en-US" sz="1200" dirty="0">
                          <a:effectLst/>
                        </a:rPr>
                        <a:t>Make all changes identified from draft review. </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4259970182"/>
                  </a:ext>
                </a:extLst>
              </a:tr>
            </a:tbl>
          </a:graphicData>
        </a:graphic>
      </p:graphicFrame>
      <p:sp>
        <p:nvSpPr>
          <p:cNvPr id="5" name="Rectangle 1">
            <a:extLst>
              <a:ext uri="{FF2B5EF4-FFF2-40B4-BE49-F238E27FC236}">
                <a16:creationId xmlns:a16="http://schemas.microsoft.com/office/drawing/2014/main" id="{BAB0987C-FD5E-45DE-8C28-1BDDCFC21236}"/>
              </a:ext>
            </a:extLst>
          </p:cNvPr>
          <p:cNvSpPr>
            <a:spLocks noChangeArrowheads="1"/>
          </p:cNvSpPr>
          <p:nvPr/>
        </p:nvSpPr>
        <p:spPr bwMode="auto">
          <a:xfrm>
            <a:off x="-3580067" y="-191610"/>
            <a:ext cx="18548615" cy="648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82224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E4A77-3536-A138-3BBA-C6C4E73C60F6}"/>
              </a:ext>
            </a:extLst>
          </p:cNvPr>
          <p:cNvSpPr>
            <a:spLocks noGrp="1"/>
          </p:cNvSpPr>
          <p:nvPr>
            <p:ph type="title"/>
          </p:nvPr>
        </p:nvSpPr>
        <p:spPr/>
        <p:txBody>
          <a:bodyPr/>
          <a:lstStyle/>
          <a:p>
            <a:r>
              <a:rPr lang="en-US" dirty="0">
                <a:solidFill>
                  <a:schemeClr val="bg1"/>
                </a:solidFill>
              </a:rPr>
              <a:t>Data Links:</a:t>
            </a:r>
          </a:p>
        </p:txBody>
      </p:sp>
      <p:sp>
        <p:nvSpPr>
          <p:cNvPr id="3" name="Content Placeholder 2">
            <a:extLst>
              <a:ext uri="{FF2B5EF4-FFF2-40B4-BE49-F238E27FC236}">
                <a16:creationId xmlns:a16="http://schemas.microsoft.com/office/drawing/2014/main" id="{CCE6BCEA-5410-50CE-CDD3-692533C9F4EC}"/>
              </a:ext>
            </a:extLst>
          </p:cNvPr>
          <p:cNvSpPr>
            <a:spLocks noGrp="1"/>
          </p:cNvSpPr>
          <p:nvPr>
            <p:ph idx="1"/>
          </p:nvPr>
        </p:nvSpPr>
        <p:spPr/>
        <p:txBody>
          <a:bodyPr/>
          <a:lstStyle/>
          <a:p>
            <a:r>
              <a:rPr lang="en-US" dirty="0">
                <a:solidFill>
                  <a:schemeClr val="bg1"/>
                </a:solidFill>
              </a:rPr>
              <a:t>The Data is accessed on </a:t>
            </a:r>
            <a:r>
              <a:rPr lang="en-US" dirty="0" err="1">
                <a:solidFill>
                  <a:schemeClr val="bg1"/>
                </a:solidFill>
              </a:rPr>
              <a:t>Ourworldindata.org</a:t>
            </a:r>
            <a:endParaRPr lang="en-US" dirty="0">
              <a:solidFill>
                <a:schemeClr val="bg1"/>
              </a:solidFill>
            </a:endParaRPr>
          </a:p>
          <a:p>
            <a:pPr lvl="0" fontAlgn="base"/>
            <a:r>
              <a:rPr lang="en-US" b="1" u="sng" dirty="0">
                <a:hlinkClick r:id="rId2">
                  <a:extLst>
                    <a:ext uri="{A12FA001-AC4F-418D-AE19-62706E023703}">
                      <ahyp:hlinkClr xmlns:ahyp="http://schemas.microsoft.com/office/drawing/2018/hyperlinkcolor" val="tx"/>
                    </a:ext>
                  </a:extLst>
                </a:hlinkClick>
              </a:rPr>
              <a:t>https://ourworldindata.org/grapher/dalys-rate-from-all-causes?tab=table</a:t>
            </a:r>
            <a:endParaRPr lang="en-US" b="1" u="sng" dirty="0"/>
          </a:p>
          <a:p>
            <a:pPr fontAlgn="base"/>
            <a:r>
              <a:rPr lang="en-US" b="1" u="sng" dirty="0">
                <a:hlinkClick r:id="rId3">
                  <a:extLst>
                    <a:ext uri="{A12FA001-AC4F-418D-AE19-62706E023703}">
                      <ahyp:hlinkClr xmlns:ahyp="http://schemas.microsoft.com/office/drawing/2018/hyperlinkcolor" val="tx"/>
                    </a:ext>
                  </a:extLst>
                </a:hlinkClick>
              </a:rPr>
              <a:t>https://ourworldindata.org/grapher/burden-of-disease-by-cause?tab=table</a:t>
            </a:r>
            <a:endParaRPr lang="en-US" b="1" u="sng" dirty="0"/>
          </a:p>
          <a:p>
            <a:pPr fontAlgn="base"/>
            <a:r>
              <a:rPr lang="en-US" b="1" u="sng" dirty="0">
                <a:hlinkClick r:id="rId4">
                  <a:extLst>
                    <a:ext uri="{A12FA001-AC4F-418D-AE19-62706E023703}">
                      <ahyp:hlinkClr xmlns:ahyp="http://schemas.microsoft.com/office/drawing/2018/hyperlinkcolor" val="tx"/>
                    </a:ext>
                  </a:extLst>
                </a:hlinkClick>
              </a:rPr>
              <a:t>https://ourworldindata.org/grapher/daly-rates-from-all-causes-by-age?tab=table&amp;country=~OWID_WRL</a:t>
            </a:r>
            <a:endParaRPr lang="en-US" b="1" u="sng" dirty="0"/>
          </a:p>
          <a:p>
            <a:pPr fontAlgn="base"/>
            <a:r>
              <a:rPr lang="en-US" b="1" u="sng" dirty="0">
                <a:hlinkClick r:id="rId5">
                  <a:extLst>
                    <a:ext uri="{A12FA001-AC4F-418D-AE19-62706E023703}">
                      <ahyp:hlinkClr xmlns:ahyp="http://schemas.microsoft.com/office/drawing/2018/hyperlinkcolor" val="tx"/>
                    </a:ext>
                  </a:extLst>
                </a:hlinkClick>
              </a:rPr>
              <a:t>https://ourworldindata.org/grapher/burden-of-disease-rates-from-communicable-neonatal-maternal-nutritional-diseases?tab=table</a:t>
            </a:r>
            <a:endParaRPr lang="en-US" b="1" u="sng" dirty="0"/>
          </a:p>
          <a:p>
            <a:pPr fontAlgn="base"/>
            <a:r>
              <a:rPr lang="en-US" b="1" u="sng" dirty="0">
                <a:hlinkClick r:id="rId6">
                  <a:extLst>
                    <a:ext uri="{A12FA001-AC4F-418D-AE19-62706E023703}">
                      <ahyp:hlinkClr xmlns:ahyp="http://schemas.microsoft.com/office/drawing/2018/hyperlinkcolor" val="tx"/>
                    </a:ext>
                  </a:extLst>
                </a:hlinkClick>
              </a:rPr>
              <a:t>https://ourworldindata.org/grapher/burden-of-disease-rates-from-ncds?tab=table</a:t>
            </a:r>
            <a:endParaRPr lang="en-US" b="1" u="sng" dirty="0"/>
          </a:p>
          <a:p>
            <a:pPr fontAlgn="base"/>
            <a:r>
              <a:rPr lang="en-US" b="1" u="sng" dirty="0">
                <a:hlinkClick r:id="rId7">
                  <a:extLst>
                    <a:ext uri="{A12FA001-AC4F-418D-AE19-62706E023703}">
                      <ahyp:hlinkClr xmlns:ahyp="http://schemas.microsoft.com/office/drawing/2018/hyperlinkcolor" val="tx"/>
                    </a:ext>
                  </a:extLst>
                </a:hlinkClick>
              </a:rPr>
              <a:t>https://ourworldindata.org/grapher/burden-of-disease-rates-from-injuries?tab=table</a:t>
            </a:r>
            <a:endParaRPr lang="en-US" b="1" u="sng" dirty="0"/>
          </a:p>
          <a:p>
            <a:endParaRPr lang="en-US" dirty="0"/>
          </a:p>
        </p:txBody>
      </p:sp>
    </p:spTree>
    <p:extLst>
      <p:ext uri="{BB962C8B-B14F-4D97-AF65-F5344CB8AC3E}">
        <p14:creationId xmlns:p14="http://schemas.microsoft.com/office/powerpoint/2010/main" val="1486364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417C3-56D2-BD42-CD3F-AD85DED47199}"/>
              </a:ext>
            </a:extLst>
          </p:cNvPr>
          <p:cNvSpPr>
            <a:spLocks noGrp="1"/>
          </p:cNvSpPr>
          <p:nvPr>
            <p:ph type="title"/>
          </p:nvPr>
        </p:nvSpPr>
        <p:spPr/>
        <p:txBody>
          <a:bodyPr/>
          <a:lstStyle/>
          <a:p>
            <a:r>
              <a:rPr lang="en-US" dirty="0">
                <a:solidFill>
                  <a:schemeClr val="bg1"/>
                </a:solidFill>
              </a:rPr>
              <a:t>Brief Extract of Data:</a:t>
            </a:r>
          </a:p>
        </p:txBody>
      </p:sp>
      <p:pic>
        <p:nvPicPr>
          <p:cNvPr id="5" name="Content Placeholder 4">
            <a:extLst>
              <a:ext uri="{FF2B5EF4-FFF2-40B4-BE49-F238E27FC236}">
                <a16:creationId xmlns:a16="http://schemas.microsoft.com/office/drawing/2014/main" id="{56D14AD9-BA1F-8E3A-46EE-9490DF42A751}"/>
              </a:ext>
            </a:extLst>
          </p:cNvPr>
          <p:cNvPicPr>
            <a:picLocks noGrp="1" noChangeAspect="1"/>
          </p:cNvPicPr>
          <p:nvPr>
            <p:ph idx="1"/>
          </p:nvPr>
        </p:nvPicPr>
        <p:blipFill>
          <a:blip r:embed="rId2"/>
          <a:stretch>
            <a:fillRect/>
          </a:stretch>
        </p:blipFill>
        <p:spPr>
          <a:xfrm>
            <a:off x="654908" y="1952368"/>
            <a:ext cx="10571998" cy="4238367"/>
          </a:xfrm>
        </p:spPr>
      </p:pic>
    </p:spTree>
    <p:extLst>
      <p:ext uri="{BB962C8B-B14F-4D97-AF65-F5344CB8AC3E}">
        <p14:creationId xmlns:p14="http://schemas.microsoft.com/office/powerpoint/2010/main" val="1274128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65662-D491-38ED-CF2F-E09CC9ED6D7C}"/>
              </a:ext>
            </a:extLst>
          </p:cNvPr>
          <p:cNvSpPr>
            <a:spLocks noGrp="1"/>
          </p:cNvSpPr>
          <p:nvPr>
            <p:ph type="title"/>
          </p:nvPr>
        </p:nvSpPr>
        <p:spPr/>
        <p:txBody>
          <a:bodyPr/>
          <a:lstStyle/>
          <a:p>
            <a:r>
              <a:rPr lang="en-US" dirty="0">
                <a:solidFill>
                  <a:schemeClr val="bg1"/>
                </a:solidFill>
              </a:rPr>
              <a:t>Reference:</a:t>
            </a:r>
          </a:p>
        </p:txBody>
      </p:sp>
      <p:sp>
        <p:nvSpPr>
          <p:cNvPr id="3" name="Content Placeholder 2">
            <a:extLst>
              <a:ext uri="{FF2B5EF4-FFF2-40B4-BE49-F238E27FC236}">
                <a16:creationId xmlns:a16="http://schemas.microsoft.com/office/drawing/2014/main" id="{B96479CD-329F-1870-53F9-50B45781CB0C}"/>
              </a:ext>
            </a:extLst>
          </p:cNvPr>
          <p:cNvSpPr>
            <a:spLocks noGrp="1"/>
          </p:cNvSpPr>
          <p:nvPr>
            <p:ph idx="1"/>
          </p:nvPr>
        </p:nvSpPr>
        <p:spPr/>
        <p:txBody>
          <a:bodyPr/>
          <a:lstStyle/>
          <a:p>
            <a:r>
              <a:rPr lang="en-US" dirty="0">
                <a:solidFill>
                  <a:schemeClr val="bg1"/>
                </a:solidFill>
              </a:rPr>
              <a:t>The project is modeled after the article below, Max </a:t>
            </a:r>
            <a:r>
              <a:rPr lang="en-US" dirty="0" err="1">
                <a:solidFill>
                  <a:schemeClr val="bg1"/>
                </a:solidFill>
              </a:rPr>
              <a:t>Roser</a:t>
            </a:r>
            <a:r>
              <a:rPr lang="en-US" dirty="0">
                <a:solidFill>
                  <a:schemeClr val="bg1"/>
                </a:solidFill>
              </a:rPr>
              <a:t> and Hannah Ritchie (2021) - "Burden of Disease". Published online at </a:t>
            </a:r>
            <a:r>
              <a:rPr lang="en-US" dirty="0" err="1">
                <a:solidFill>
                  <a:schemeClr val="bg1"/>
                </a:solidFill>
              </a:rPr>
              <a:t>OurWorldInData.org</a:t>
            </a:r>
            <a:r>
              <a:rPr lang="en-US" dirty="0">
                <a:solidFill>
                  <a:schemeClr val="bg1"/>
                </a:solidFill>
              </a:rPr>
              <a:t>. Retrieved from: </a:t>
            </a:r>
            <a:r>
              <a:rPr lang="en-US" b="1" u="sng" dirty="0">
                <a:hlinkClick r:id="rId2">
                  <a:extLst>
                    <a:ext uri="{A12FA001-AC4F-418D-AE19-62706E023703}">
                      <ahyp:hlinkClr xmlns:ahyp="http://schemas.microsoft.com/office/drawing/2018/hyperlinkcolor" val="tx"/>
                    </a:ext>
                  </a:extLst>
                </a:hlinkClick>
              </a:rPr>
              <a:t>https://ourworldindata.org/burden-of-disease</a:t>
            </a:r>
            <a:r>
              <a:rPr lang="en-US" b="1" dirty="0"/>
              <a:t> </a:t>
            </a:r>
            <a:r>
              <a:rPr lang="en-US" dirty="0">
                <a:solidFill>
                  <a:schemeClr val="bg1"/>
                </a:solidFill>
              </a:rPr>
              <a:t>[Online Resource]. </a:t>
            </a:r>
          </a:p>
        </p:txBody>
      </p:sp>
    </p:spTree>
    <p:extLst>
      <p:ext uri="{BB962C8B-B14F-4D97-AF65-F5344CB8AC3E}">
        <p14:creationId xmlns:p14="http://schemas.microsoft.com/office/powerpoint/2010/main" val="246344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4A5A-0151-AA0E-A719-1EA0F7FC1CD2}"/>
              </a:ext>
            </a:extLst>
          </p:cNvPr>
          <p:cNvSpPr>
            <a:spLocks noGrp="1"/>
          </p:cNvSpPr>
          <p:nvPr>
            <p:ph type="title"/>
          </p:nvPr>
        </p:nvSpPr>
        <p:spPr/>
        <p:txBody>
          <a:bodyPr anchor="ctr"/>
          <a:lstStyle/>
          <a:p>
            <a:pPr algn="ctr"/>
            <a:r>
              <a:rPr lang="en-US" sz="4800" dirty="0"/>
              <a:t>THANK</a:t>
            </a:r>
          </a:p>
        </p:txBody>
      </p:sp>
      <p:sp>
        <p:nvSpPr>
          <p:cNvPr id="3" name="Text Placeholder 2">
            <a:extLst>
              <a:ext uri="{FF2B5EF4-FFF2-40B4-BE49-F238E27FC236}">
                <a16:creationId xmlns:a16="http://schemas.microsoft.com/office/drawing/2014/main" id="{A14DF114-76A4-3848-CB31-9C63A8818494}"/>
              </a:ext>
            </a:extLst>
          </p:cNvPr>
          <p:cNvSpPr>
            <a:spLocks noGrp="1"/>
          </p:cNvSpPr>
          <p:nvPr>
            <p:ph type="body" sz="quarter" idx="16"/>
          </p:nvPr>
        </p:nvSpPr>
        <p:spPr>
          <a:ln>
            <a:solidFill>
              <a:schemeClr val="bg1"/>
            </a:solidFill>
          </a:ln>
        </p:spPr>
        <p:txBody>
          <a:bodyPr anchor="ctr">
            <a:normAutofit/>
          </a:bodyPr>
          <a:lstStyle/>
          <a:p>
            <a:pPr algn="ctr"/>
            <a:r>
              <a:rPr lang="en-US" sz="4800" b="1" dirty="0">
                <a:solidFill>
                  <a:schemeClr val="bg1"/>
                </a:solidFill>
              </a:rPr>
              <a:t>YOU</a:t>
            </a:r>
          </a:p>
        </p:txBody>
      </p:sp>
    </p:spTree>
    <p:extLst>
      <p:ext uri="{BB962C8B-B14F-4D97-AF65-F5344CB8AC3E}">
        <p14:creationId xmlns:p14="http://schemas.microsoft.com/office/powerpoint/2010/main" val="16309335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docProps/app.xml><?xml version="1.0" encoding="utf-8"?>
<Properties xmlns="http://schemas.openxmlformats.org/officeDocument/2006/extended-properties" xmlns:vt="http://schemas.openxmlformats.org/officeDocument/2006/docPropsVTypes">
  <Template>Quotable</Template>
  <TotalTime>34</TotalTime>
  <Words>512</Words>
  <Application>Microsoft Macintosh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Century Gothic</vt:lpstr>
      <vt:lpstr>Times New Roman</vt:lpstr>
      <vt:lpstr>Wingdings 2</vt:lpstr>
      <vt:lpstr>Quotable</vt:lpstr>
      <vt:lpstr>Burden of Disease Study  (1990 – 2019)  </vt:lpstr>
      <vt:lpstr>Introduction: </vt:lpstr>
      <vt:lpstr>Research Questions: </vt:lpstr>
      <vt:lpstr>Visualization Tools: </vt:lpstr>
      <vt:lpstr>Examples of Visualization Choices Bar Chart:                                                                              Animated Point -Line Graph:</vt:lpstr>
      <vt:lpstr>Examples of Visualization Choices Geographical Heat Maps:                                                          Stacked Line Graph:</vt:lpstr>
      <vt:lpstr>Project Schedule:</vt:lpstr>
      <vt:lpstr>Data Links:</vt:lpstr>
      <vt:lpstr>Brief Extract of Data:</vt:lpstr>
      <vt:lpstr>Reference:</vt:lpstr>
      <vt:lpstr>THANK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Burden of Disease Study  (1990 – 2019)  </dc:title>
  <dc:creator>John Legendary</dc:creator>
  <cp:lastModifiedBy>John Legendary</cp:lastModifiedBy>
  <cp:revision>2</cp:revision>
  <dcterms:created xsi:type="dcterms:W3CDTF">2022-04-13T16:06:41Z</dcterms:created>
  <dcterms:modified xsi:type="dcterms:W3CDTF">2022-04-13T17:14:50Z</dcterms:modified>
</cp:coreProperties>
</file>